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38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đề tài KV Store phân tán; nhấn 3 trọng tâm: bài toán, luồng hoạt động,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3 nhược điểm của tập trung, rồi chuyển sang lợi ích của cụm phân tán.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vừa đủ: P2P, key→node theo vòng băm, forward, mỗi key 2 bản (Primary+Replica). Không đi sâu lý thuyết.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3 bước PUT: forward → ghi &amp; sao lưu → trả ok ngay.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forward về Primary; nếu Primary chết thì đọc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xóa ở Primary rồi lan sang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chuyện chịu lỗi: heartbeat phát hiện DEAD, failover sang Replica, không gián đoạn.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Chạy demo theo 5 bước; chỉ vào Dashboard khi tắt/bật node để thấy trạng thái và đồng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ơn, mời demo trực tiếp và hỏi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85800"/>
            <a:ext cx="640080" cy="640080"/>
          </a:xfrm>
          <a:prstGeom prst="ellipse">
            <a:avLst/>
          </a:prstGeom>
          <a:solidFill>
            <a:srgbClr val="3498DB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685800"/>
            <a:ext cx="640080" cy="640080"/>
          </a:xfrm>
          <a:prstGeom prst="ellipse">
            <a:avLst/>
          </a:prstGeom>
          <a:solidFill>
            <a:srgbClr val="2ECC71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55680" y="685800"/>
            <a:ext cx="640080" cy="640080"/>
          </a:xfrm>
          <a:prstGeom prst="ellipse">
            <a:avLst/>
          </a:prstGeom>
          <a:solidFill>
            <a:srgbClr val="E74C3C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0" y="1005840"/>
            <a:ext cx="548640" cy="0"/>
          </a:xfrm>
          <a:prstGeom prst="line">
            <a:avLst/>
          </a:prstGeom>
          <a:noFill/>
          <a:ln w="19050">
            <a:solidFill>
              <a:srgbClr val="4761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1005840"/>
            <a:ext cx="548640" cy="0"/>
          </a:xfrm>
          <a:prstGeom prst="line">
            <a:avLst/>
          </a:prstGeom>
          <a:noFill/>
          <a:ln w="19050">
            <a:solidFill>
              <a:srgbClr val="4761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7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PHÂN TÁN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2697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lưu trữ Key–Value phân tán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bài toán · Luồng hoạt động · Demo</a:t>
            </a:r>
            <a:endParaRPr lang="en-US" sz="1900" dirty="0"/>
          </a:p>
        </p:txBody>
      </p:sp>
      <p:sp>
        <p:nvSpPr>
          <p:cNvPr id="50" name="Members"/>
          <p:cNvSpPr/>
          <p:nvPr/>
        </p:nvSpPr>
        <p:spPr>
          <a:xfrm>
            <a:off x="603504" y="4490769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</a:t>
            </a:r>
            <a:r>
              <a:rPr lang="en-US" sz="1200" b="1" dirty="0" err="1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endParaRPr lang="en-US" sz="12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Tuấn Thiền – 23010571      •      Đỗ Trung Kiên – 23010689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hệ thống phân tán?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TẬP TRUNG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FBEEEC"/>
          </a:solidFill>
          <a:ln w="12700">
            <a:solidFill>
              <a:srgbClr val="F0C9C2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39112"/>
            <a:ext cx="448056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lỗi duy nhất (SPOF)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7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sập → mất toàn bộ dịch vụ.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FBEEEC"/>
          </a:solidFill>
          <a:ln w="12700">
            <a:solidFill>
              <a:srgbClr val="F0C9C2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182112"/>
            <a:ext cx="448056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mở rộng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7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1 máy: đắt, có giới hạn.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FBEEEC"/>
          </a:solidFill>
          <a:ln w="12700">
            <a:solidFill>
              <a:srgbClr val="F0C9C2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325112"/>
            <a:ext cx="448056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Nghẽn cổ chai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7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kham nổi lượng truy cập lớn.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32120" y="3246120"/>
            <a:ext cx="914400" cy="6400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NHIỀU NODE (PHÂN TÁN)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EAF7F0"/>
          </a:solidFill>
          <a:ln w="12700">
            <a:solidFill>
              <a:srgbClr val="BFE6D2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240280"/>
            <a:ext cx="4617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node độc lập cùng chia tải lưu trữ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được sao lưu (replicate) sang node khác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node sập, cụm vẫn đọc/ghi bình thường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phát hiện lỗi &amp; tự đồng bộ lại dữ liệu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hoạt động thế nào?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AFD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1720" y="192024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6263F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1920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Web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383280"/>
            <a:ext cx="1188720" cy="1188720"/>
          </a:xfrm>
          <a:prstGeom prst="ellipse">
            <a:avLst/>
          </a:prstGeom>
          <a:solidFill>
            <a:srgbClr val="3498DB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383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2487168"/>
            <a:ext cx="2148840" cy="896112"/>
          </a:xfrm>
          <a:prstGeom prst="line">
            <a:avLst/>
          </a:prstGeom>
          <a:noFill/>
          <a:ln w="15875">
            <a:solidFill>
              <a:srgbClr val="9CB3C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42032" y="3383280"/>
            <a:ext cx="1188720" cy="1188720"/>
          </a:xfrm>
          <a:prstGeom prst="ellipse">
            <a:avLst/>
          </a:prstGeom>
          <a:solidFill>
            <a:srgbClr val="2ECC71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3383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36392" y="2487168"/>
            <a:ext cx="704088" cy="896112"/>
          </a:xfrm>
          <a:prstGeom prst="line">
            <a:avLst/>
          </a:prstGeom>
          <a:noFill/>
          <a:ln w="15875">
            <a:solidFill>
              <a:srgbClr val="9CB3C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986784" y="3383280"/>
            <a:ext cx="1188720" cy="1188720"/>
          </a:xfrm>
          <a:prstGeom prst="ellipse">
            <a:avLst/>
          </a:prstGeom>
          <a:solidFill>
            <a:srgbClr val="E74C3C"/>
          </a:solidFill>
          <a:ln/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86784" y="3383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81144" y="2487168"/>
            <a:ext cx="0" cy="896112"/>
          </a:xfrm>
          <a:prstGeom prst="line">
            <a:avLst/>
          </a:prstGeom>
          <a:noFill/>
          <a:ln w="15875">
            <a:solidFill>
              <a:srgbClr val="9CB3C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91640" y="4526280"/>
            <a:ext cx="144475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6392" y="4526280"/>
            <a:ext cx="144475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937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node giữ data_store (Primary) + replica_store (bản sao)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1554480"/>
            <a:ext cx="4572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Ngang hàng (P2P)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node trung tâm; client gửi vào node bất kỳ.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2569464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2798064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3448" y="2615184"/>
            <a:ext cx="4572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node nào?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 (256 virtual node/node): băm key, đi theo vòng băm chọn Primary.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363016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28232" y="3858768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3448" y="3675888"/>
            <a:ext cx="4572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 (Forward)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nhận sai node, tự forward tới đúng Primary qua XML-RPC.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63640" y="4690872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4919472"/>
            <a:ext cx="457200" cy="457200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3448" y="4736592"/>
            <a:ext cx="4572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dữ liệu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key lưu trên 2 node: 1 Primary + 1 Replica.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dữ liệu — PUT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pic>
        <p:nvPicPr>
          <p:cNvPr id="6" name="Image 0" descr="flow_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63" y="1600200"/>
            <a:ext cx="4225314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put("apple","v") → Primary = node2, Replica = node3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6559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1655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50808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chuyển tới Primary node2.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01000" y="3035808"/>
            <a:ext cx="3749040" cy="1097280"/>
          </a:xfrm>
          <a:prstGeom prst="roundRect">
            <a:avLst>
              <a:gd name="adj" fmla="val 5833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33558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1"/>
          <p:cNvSpPr/>
          <p:nvPr/>
        </p:nvSpPr>
        <p:spPr>
          <a:xfrm>
            <a:off x="8165592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50808" y="3081528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&amp; sao lưu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 ghi data_store, copy sang node3.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01000" y="4334256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65592" y="4608576"/>
            <a:ext cx="457200" cy="457200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18" name="Text 15"/>
          <p:cNvSpPr/>
          <p:nvPr/>
        </p:nvSpPr>
        <p:spPr>
          <a:xfrm>
            <a:off x="8165592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0808" y="4379976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ok ngay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chờ sao lưu xong.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dữ liệu —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pic>
        <p:nvPicPr>
          <p:cNvPr id="6" name="Image 0" descr="flow_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700" y="1600200"/>
            <a:ext cx="4933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đọc bản cục bộ; nếu không có thì hỏi Primary, Replica dự phòng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6559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1655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50808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cục bộ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đang giữ key → trả ngay (local-first).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01000" y="3035808"/>
            <a:ext cx="3749040" cy="1097280"/>
          </a:xfrm>
          <a:prstGeom prst="roundRect">
            <a:avLst>
              <a:gd name="adj" fmla="val 5833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33558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1"/>
          <p:cNvSpPr/>
          <p:nvPr/>
        </p:nvSpPr>
        <p:spPr>
          <a:xfrm>
            <a:off x="8165592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50808" y="3081528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Primary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cục bộ → hỏi Primary lấy bản mới nhất.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01000" y="4334256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65592" y="4608576"/>
            <a:ext cx="457200" cy="457200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18" name="Text 15"/>
          <p:cNvSpPr/>
          <p:nvPr/>
        </p:nvSpPr>
        <p:spPr>
          <a:xfrm>
            <a:off x="8165592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0808" y="4379976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chết → đọc từ Replica sống.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Xóa dữ liệu — DELETE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pic>
        <p:nvPicPr>
          <p:cNvPr id="6" name="Image 0" descr="flow_de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676" y="1600200"/>
            <a:ext cx="2501689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ở Primary rồi lan sang Replica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6559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1655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50808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chuyển tới Primary node2.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01000" y="3035808"/>
            <a:ext cx="3749040" cy="1097280"/>
          </a:xfrm>
          <a:prstGeom prst="roundRect">
            <a:avLst>
              <a:gd name="adj" fmla="val 5833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3355848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8165592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50808" y="3081528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&amp; lan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 xóa, báo node3 xóa bản sao.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01000" y="4334256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65592" y="4608576"/>
            <a:ext cx="457200" cy="457200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18" name="Text 15"/>
          <p:cNvSpPr/>
          <p:nvPr/>
        </p:nvSpPr>
        <p:spPr>
          <a:xfrm>
            <a:off x="8165592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0808" y="4379976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Dọn dẹp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xóa bản sao cũ còn sót.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 LỖI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một node bị sập?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pic>
        <p:nvPicPr>
          <p:cNvPr id="6" name="Image 0" descr="flow_put_fail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50" y="1627117"/>
            <a:ext cx="5096741" cy="4060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chết → phục vụ từ bản sao → tự nhân bản bù → hồi phục thì dọn bản thừa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1783080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65592" y="217170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8165592" y="2171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50808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2s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5s không phản hồi → đánh dấu DEAD.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01000" y="3218688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36073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165592" y="36073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50808" y="3264408"/>
            <a:ext cx="28346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chuyển ghi/đọc sang Replica.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01000" y="4654296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65592" y="5042916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5"/>
          <p:cNvSpPr/>
          <p:nvPr/>
        </p:nvSpPr>
        <p:spPr>
          <a:xfrm>
            <a:off x="8165592" y="50429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0808" y="4700016"/>
            <a:ext cx="28346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phục hồi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sống tự nhân bản bù → luôn đủ 2 bản.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27C7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63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19072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19072"/>
            <a:ext cx="128016" cy="128016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1719072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664208"/>
            <a:ext cx="3840480" cy="246888"/>
          </a:xfrm>
          <a:prstGeom prst="roundRect">
            <a:avLst>
              <a:gd name="adj" fmla="val 48148"/>
            </a:avLst>
          </a:prstGeom>
          <a:solidFill>
            <a:srgbClr val="20395C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664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  ·  KV Store 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042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28529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224028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3042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9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54680" y="28529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ONLINE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dữ liệu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041648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F7FAFD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41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14600" y="4041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69080" y="4041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4498848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F7FAFD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98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user42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14600" y="4498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69080" y="4498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4956048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F7FAFD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56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14600" y="4956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069080" y="4956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9320" y="1554480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3912" y="1719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153912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9128" y="1600200"/>
            <a:ext cx="48463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 cụm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start_cluster → 3 node + Web UI tại :5000.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989320" y="2487168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26517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0" name="Text 38"/>
          <p:cNvSpPr/>
          <p:nvPr/>
        </p:nvSpPr>
        <p:spPr>
          <a:xfrm>
            <a:off x="615391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39128" y="2532888"/>
            <a:ext cx="48463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&amp; xem định tuyến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key, xem nó vào Primary nào, sao lưu ở đâu.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989320" y="3419856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53912" y="3584448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4" name="Text 42"/>
          <p:cNvSpPr/>
          <p:nvPr/>
        </p:nvSpPr>
        <p:spPr>
          <a:xfrm>
            <a:off x="6153912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39128" y="3465576"/>
            <a:ext cx="48463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 1 node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OFFLINE; GET vẫn đọc được; cụm tự nhân bản bù về đủ 2 bản.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5989320" y="4352544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53912" y="4517136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8" name="Text 46"/>
          <p:cNvSpPr/>
          <p:nvPr/>
        </p:nvSpPr>
        <p:spPr>
          <a:xfrm>
            <a:off x="6153912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39128" y="4398264"/>
            <a:ext cx="48463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/ Xóa node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apply_membership: ring dựng lại, di trú ~k/n key, không downtime.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5989320" y="5285232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828">
                <a:alpha val="1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53912" y="5449824"/>
            <a:ext cx="457200" cy="457200"/>
          </a:xfrm>
          <a:prstGeom prst="ellipse">
            <a:avLst/>
          </a:prstGeom>
          <a:solidFill>
            <a:srgbClr val="EFA13C"/>
          </a:solidFill>
          <a:ln/>
        </p:spPr>
      </p:sp>
      <p:sp>
        <p:nvSpPr>
          <p:cNvPr id="52" name="Text 50"/>
          <p:cNvSpPr/>
          <p:nvPr/>
        </p:nvSpPr>
        <p:spPr>
          <a:xfrm>
            <a:off x="6153912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39128" y="5330952"/>
            <a:ext cx="48463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lại node
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Sync → dữ liệu về đúng phân vùng, dọn bản thừa.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85800"/>
            <a:ext cx="640080" cy="6400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68580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8580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7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788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và các bạn đã lắng nghe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Key-Value phân tán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914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Store phân tán — bản trình bày</dc:title>
  <dc:subject>PptxGenJS Presentation</dc:subject>
  <dc:creator>ARS Store</dc:creator>
  <cp:lastModifiedBy>Admin</cp:lastModifiedBy>
  <cp:revision>2</cp:revision>
  <dcterms:created xsi:type="dcterms:W3CDTF">2026-06-12T02:09:41Z</dcterms:created>
  <dcterms:modified xsi:type="dcterms:W3CDTF">2026-06-17T03:03:36Z</dcterms:modified>
</cp:coreProperties>
</file>